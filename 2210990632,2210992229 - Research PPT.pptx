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7"/>
  </p:notesMasterIdLst>
  <p:handoutMasterIdLst>
    <p:handoutMasterId r:id="rId18"/>
  </p:handoutMasterIdLst>
  <p:sldIdLst>
    <p:sldId id="256" r:id="rId5"/>
    <p:sldId id="257" r:id="rId6"/>
    <p:sldId id="270" r:id="rId7"/>
    <p:sldId id="277" r:id="rId8"/>
    <p:sldId id="271" r:id="rId9"/>
    <p:sldId id="272" r:id="rId10"/>
    <p:sldId id="273" r:id="rId11"/>
    <p:sldId id="278" r:id="rId12"/>
    <p:sldId id="274" r:id="rId13"/>
    <p:sldId id="275" r:id="rId14"/>
    <p:sldId id="276" r:id="rId15"/>
    <p:sldId id="268" r:id="rId16"/>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1830"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4/30/2026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4/30/2026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r>
              <a:rPr lang="en-US" sz="3000" b="0" strike="noStrike" spc="-1">
                <a:solidFill>
                  <a:srgbClr val="000000"/>
                </a:solidFill>
                <a:latin typeface="Arial"/>
              </a:rPr>
              <a:t>Click to edit Master title style</a:t>
            </a: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r>
              <a:rPr lang="en-US" sz="3200" b="0" strike="noStrike" spc="-1">
                <a:latin typeface="Arial"/>
              </a:rPr>
              <a:t>Click to edit Master subtitle style</a:t>
            </a: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r>
              <a:rPr lang="en-US" sz="3000" b="0" strike="noStrike" spc="-1">
                <a:solidFill>
                  <a:srgbClr val="000000"/>
                </a:solidFill>
                <a:latin typeface="Arial"/>
              </a:rPr>
              <a:t>Click to edit Master title style</a:t>
            </a: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r>
              <a:rPr lang="en-US" sz="3000" b="0" strike="noStrike" spc="-1">
                <a:solidFill>
                  <a:srgbClr val="000000"/>
                </a:solidFill>
                <a:latin typeface="Arial"/>
              </a:rPr>
              <a:t>Click to edit Master title style</a:t>
            </a: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r>
              <a:rPr lang="en-US" sz="3000" b="0" strike="noStrike" spc="-1">
                <a:solidFill>
                  <a:srgbClr val="000000"/>
                </a:solidFill>
                <a:latin typeface="Arial"/>
              </a:rPr>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r>
              <a:rPr lang="en-US" sz="3200" b="0" strike="noStrike" spc="-1">
                <a:latin typeface="Arial"/>
              </a:rPr>
              <a:t>Click to edit Master subtitle style</a:t>
            </a: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r>
              <a:rPr lang="en-US" sz="3000" b="0" strike="noStrike" spc="-1">
                <a:solidFill>
                  <a:srgbClr val="000000"/>
                </a:solidFill>
                <a:latin typeface="Arial"/>
              </a:rPr>
              <a:t>Click to edit Master title style</a:t>
            </a: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r>
              <a:rPr lang="en-US" sz="3000" b="0" strike="noStrike" spc="-1">
                <a:solidFill>
                  <a:srgbClr val="000000"/>
                </a:solidFill>
                <a:latin typeface="Arial"/>
              </a:rPr>
              <a:t>Click to edit Master title style</a:t>
            </a: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r>
              <a:rPr lang="en-US" sz="3000" b="0" strike="noStrike" spc="-1">
                <a:solidFill>
                  <a:srgbClr val="000000"/>
                </a:solidFill>
                <a:latin typeface="Arial"/>
              </a:rPr>
              <a:t>Click to edit Master title style</a:t>
            </a: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r>
              <a:rPr lang="en-US" sz="3000" b="0" strike="noStrike" spc="-1">
                <a:solidFill>
                  <a:srgbClr val="000000"/>
                </a:solidFill>
                <a:latin typeface="Arial"/>
              </a:rPr>
              <a:t>Click to edit Master title style</a:t>
            </a: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r>
              <a:rPr lang="en-US" sz="3000" b="0" strike="noStrike" spc="-1">
                <a:solidFill>
                  <a:srgbClr val="000000"/>
                </a:solidFill>
                <a:latin typeface="Arial"/>
              </a:rPr>
              <a:t>Click to edit Master title style</a:t>
            </a: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r>
              <a:rPr lang="en-US" sz="3000" b="0" strike="noStrike" spc="-1">
                <a:solidFill>
                  <a:srgbClr val="000000"/>
                </a:solidFill>
                <a:latin typeface="Arial"/>
              </a:rPr>
              <a:t>Click to edit Master title style</a:t>
            </a: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pPr lvl="0"/>
            <a:r>
              <a:rPr lang="en-US" sz="3200" b="0" strike="noStrike" spc="-1">
                <a:solidFill>
                  <a:srgbClr val="000000"/>
                </a:solidFill>
                <a:latin typeface="Calibri"/>
              </a:rPr>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US"/>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lvl="0"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Click to edit Master text styles</a:t>
            </a:r>
          </a:p>
          <a:p>
            <a:pPr marL="343080" lvl="1"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Second level</a:t>
            </a:r>
          </a:p>
          <a:p>
            <a:pPr marL="343080" lvl="2"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Third level</a:t>
            </a:r>
          </a:p>
          <a:p>
            <a:pPr marL="343080" lvl="3"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Fourth level</a:t>
            </a:r>
          </a:p>
          <a:p>
            <a:pPr marL="343080" lvl="4"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Fifth level</a:t>
            </a:r>
            <a:endParaRPr lang="en-US" sz="2000" b="0" strike="noStrike" spc="-1">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fld id="{AF8DB620-2583-475D-9F87-055691DC1B89}" type="datetime1">
              <a:rPr lang="en-US" sz="1200" b="0" strike="noStrike" spc="-1" smtClean="0">
                <a:latin typeface="Times New Roman"/>
              </a:rPr>
              <a:t>4/30/2026</a:t>
            </a:fld>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endParaRPr lang="en-GB" sz="2400" b="0" strike="noStrike" spc="-1">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717485"/>
          </a:xfrm>
          <a:prstGeom prst="rect">
            <a:avLst/>
          </a:prstGeom>
          <a:noFill/>
          <a:ln w="9360">
            <a:noFill/>
          </a:ln>
        </p:spPr>
        <p:txBody>
          <a:bodyPr>
            <a:noAutofit/>
          </a:bodyPr>
          <a:lstStyle/>
          <a:p>
            <a:pPr algn="ctr">
              <a:lnSpc>
                <a:spcPct val="100000"/>
              </a:lnSpc>
              <a:spcBef>
                <a:spcPts val="400"/>
              </a:spcBef>
            </a:pPr>
            <a:r>
              <a:rPr lang="en-IN"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 </a:t>
            </a:r>
          </a:p>
          <a:p>
            <a:pPr algn="ctr">
              <a:lnSpc>
                <a:spcPct val="100000"/>
              </a:lnSpc>
              <a:spcBef>
                <a:spcPts val="400"/>
              </a:spcBef>
            </a:pPr>
            <a:r>
              <a:rPr lang="en-US" sz="2400" b="1" dirty="0">
                <a:latin typeface="Times New Roman" panose="02020603050405020304" pitchFamily="18" charset="0"/>
                <a:cs typeface="Times New Roman" panose="02020603050405020304" pitchFamily="18" charset="0"/>
              </a:rPr>
              <a:t>From Prompt to Vulnerability: </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Understanding Security Risks in AI-Generated Code</a:t>
            </a:r>
          </a:p>
          <a:p>
            <a:pPr algn="ctr">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Palak Kaushik - 2210990632</a:t>
            </a:r>
          </a:p>
          <a:p>
            <a:pPr algn="ctr">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Sakshi Rani - 2210992229</a:t>
            </a:r>
          </a:p>
          <a:p>
            <a:pPr algn="ctr">
              <a:lnSpc>
                <a:spcPct val="100000"/>
              </a:lnSpc>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Monika Aggarwal</a:t>
            </a: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64592" y="161803"/>
            <a:ext cx="4401072" cy="837720"/>
          </a:xfrm>
          <a:prstGeom prst="rect">
            <a:avLst/>
          </a:prstGeom>
          <a:noFill/>
          <a:ln w="9360">
            <a:noFill/>
          </a:ln>
        </p:spPr>
        <p:txBody>
          <a:bodyPr anchor="ctr">
            <a:noAutofit/>
          </a:bodyPr>
          <a:lstStyle/>
          <a:p>
            <a:pPr algn="ctr">
              <a:lnSpc>
                <a:spcPct val="100000"/>
              </a:lnSpc>
            </a:pPr>
            <a:r>
              <a:rPr lang="en-US" sz="3200" dirty="0"/>
              <a:t>Problem Statement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305280" y="999523"/>
            <a:ext cx="8610120" cy="5497535"/>
          </a:xfrm>
          <a:prstGeom prst="rect">
            <a:avLst/>
          </a:prstGeom>
          <a:noFill/>
          <a:ln w="9360">
            <a:noFill/>
          </a:ln>
        </p:spPr>
        <p:txBody>
          <a:bodyPr>
            <a:noAutofit/>
          </a:bodyPr>
          <a:lstStyle/>
          <a:p>
            <a:pPr marL="285750" indent="-285750" algn="just">
              <a:buFont typeface="Arial" panose="020B0604020202020204" pitchFamily="34" charset="0"/>
              <a:buChar char="•"/>
            </a:pPr>
            <a:r>
              <a:rPr lang="en-US" dirty="0"/>
              <a:t>The rapid adoption of AI-based code generation tools such as GitHub Copilot, ChatGPT, and Amazon </a:t>
            </a:r>
            <a:r>
              <a:rPr lang="en-US" dirty="0" err="1"/>
              <a:t>CodeWhisperer</a:t>
            </a:r>
            <a:r>
              <a:rPr lang="en-US" dirty="0"/>
              <a:t> has significantly transformed modern software development. Developers increasingly rely on these tools to generate code quickly and improve productivity. However, while these tools enhance efficiency, they often produce code without adequate consideration of security best practices.</a:t>
            </a:r>
          </a:p>
          <a:p>
            <a:pPr algn="just"/>
            <a:endParaRPr lang="en-US" dirty="0"/>
          </a:p>
          <a:p>
            <a:pPr marL="285750" indent="-285750" algn="just">
              <a:buFont typeface="Arial" panose="020B0604020202020204" pitchFamily="34" charset="0"/>
              <a:buChar char="•"/>
            </a:pPr>
            <a:r>
              <a:rPr lang="en-US" dirty="0"/>
              <a:t>In many cases, developers accept AI-generated code without thorough validation or testing. This creates a critical security gap, as vulnerabilities may be introduced unintentionally into applications. Traditional security practices and tools are primarily designed for human-written code and may not effectively detect issues specific to AI-generated outputs.</a:t>
            </a:r>
          </a:p>
          <a:p>
            <a:pPr algn="just"/>
            <a:endParaRPr lang="en-US" dirty="0"/>
          </a:p>
          <a:p>
            <a:pPr marL="285750" indent="-285750" algn="just">
              <a:buFont typeface="Arial" panose="020B0604020202020204" pitchFamily="34" charset="0"/>
              <a:buChar char="•"/>
            </a:pPr>
            <a:r>
              <a:rPr lang="en-US" dirty="0"/>
              <a:t>As a result, software systems built using AI-generated code are at a higher risk of security threats such as injection attacks, insecure dependencies, and improper input handling. This growing dependency on AI tools, combined with insufficient security awareness, highlights the need for a structured approach to analyze and mitigate risks associated with AI-generated code.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82C66-E110-AD4D-E3F4-38A538C98FC1}"/>
              </a:ext>
            </a:extLst>
          </p:cNvPr>
          <p:cNvSpPr>
            <a:spLocks noGrp="1"/>
          </p:cNvSpPr>
          <p:nvPr>
            <p:ph type="title"/>
          </p:nvPr>
        </p:nvSpPr>
        <p:spPr>
          <a:xfrm>
            <a:off x="137159" y="64008"/>
            <a:ext cx="6528619" cy="914040"/>
          </a:xfrm>
        </p:spPr>
        <p:txBody>
          <a:bodyPr/>
          <a:lstStyle/>
          <a:p>
            <a:r>
              <a:rPr lang="en-US" sz="3000" dirty="0"/>
              <a:t> Proposed Solution</a:t>
            </a:r>
            <a:endParaRPr lang="en-IN" sz="3000" dirty="0"/>
          </a:p>
        </p:txBody>
      </p:sp>
      <p:sp>
        <p:nvSpPr>
          <p:cNvPr id="7" name="TextBox 6">
            <a:extLst>
              <a:ext uri="{FF2B5EF4-FFF2-40B4-BE49-F238E27FC236}">
                <a16:creationId xmlns:a16="http://schemas.microsoft.com/office/drawing/2014/main" id="{48526C2D-EF93-111E-9348-66A7A67EC25E}"/>
              </a:ext>
            </a:extLst>
          </p:cNvPr>
          <p:cNvSpPr txBox="1"/>
          <p:nvPr/>
        </p:nvSpPr>
        <p:spPr>
          <a:xfrm>
            <a:off x="206477" y="1175986"/>
            <a:ext cx="8526043" cy="4524315"/>
          </a:xfrm>
          <a:prstGeom prst="rect">
            <a:avLst/>
          </a:prstGeom>
          <a:noFill/>
        </p:spPr>
        <p:txBody>
          <a:bodyPr wrap="square">
            <a:spAutoFit/>
          </a:bodyPr>
          <a:lstStyle/>
          <a:p>
            <a:pPr marL="285750" indent="-285750" algn="just">
              <a:buFont typeface="Arial" panose="020B0604020202020204" pitchFamily="34" charset="0"/>
              <a:buChar char="•"/>
            </a:pPr>
            <a:r>
              <a:rPr lang="en-US" dirty="0"/>
              <a:t>To address the security challenges posed by AI-generated code, this research proposes a structured framework for identifying, analyzing, and mitigating vulnerabilities. The approach begins with systematically identifying common security issues present in AI-generated code and classifying them using the MITRE Common Weakness Enumeration (CWE) standards.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 study further analyzes the root causes behind these vulnerabilities, including factors related to AI model training, developer behavior, and limitations in context understanding. Additionally, a comparative analysis of widely used AI code generation tools is conducted to evaluate their security characteristics and risk levels.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Based on these insights, the research suggests practical mitigation strategies at the developer, organizational, and technical levels. This comprehensive approach aims to improve awareness, enhance secure coding practices, and reduce the overall risk associated with the use of AI in software development.</a:t>
            </a:r>
          </a:p>
        </p:txBody>
      </p:sp>
    </p:spTree>
    <p:extLst>
      <p:ext uri="{BB962C8B-B14F-4D97-AF65-F5344CB8AC3E}">
        <p14:creationId xmlns:p14="http://schemas.microsoft.com/office/powerpoint/2010/main" val="3041078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E7309-AEF4-E0BF-07F6-E2EA8A408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592267-4464-9983-BB41-63D39831BD21}"/>
              </a:ext>
            </a:extLst>
          </p:cNvPr>
          <p:cNvSpPr>
            <a:spLocks noGrp="1"/>
          </p:cNvSpPr>
          <p:nvPr>
            <p:ph type="title"/>
          </p:nvPr>
        </p:nvSpPr>
        <p:spPr>
          <a:xfrm>
            <a:off x="266650" y="109728"/>
            <a:ext cx="6528619" cy="914040"/>
          </a:xfrm>
        </p:spPr>
        <p:txBody>
          <a:bodyPr/>
          <a:lstStyle/>
          <a:p>
            <a:r>
              <a:rPr lang="en-US" sz="3000" dirty="0"/>
              <a:t>Objectives</a:t>
            </a:r>
            <a:endParaRPr lang="en-IN" sz="3000" dirty="0"/>
          </a:p>
        </p:txBody>
      </p:sp>
      <p:sp>
        <p:nvSpPr>
          <p:cNvPr id="7" name="TextBox 6">
            <a:extLst>
              <a:ext uri="{FF2B5EF4-FFF2-40B4-BE49-F238E27FC236}">
                <a16:creationId xmlns:a16="http://schemas.microsoft.com/office/drawing/2014/main" id="{2696D2B5-2670-BE04-D4B7-0B28496D6508}"/>
              </a:ext>
            </a:extLst>
          </p:cNvPr>
          <p:cNvSpPr txBox="1"/>
          <p:nvPr/>
        </p:nvSpPr>
        <p:spPr>
          <a:xfrm>
            <a:off x="206477" y="1166842"/>
            <a:ext cx="8731046" cy="4247317"/>
          </a:xfrm>
          <a:prstGeom prst="rect">
            <a:avLst/>
          </a:prstGeom>
          <a:noFill/>
        </p:spPr>
        <p:txBody>
          <a:bodyPr wrap="square">
            <a:spAutoFit/>
          </a:bodyPr>
          <a:lstStyle/>
          <a:p>
            <a:pPr marL="285750" indent="-285750" algn="just">
              <a:buFont typeface="Arial" panose="020B0604020202020204" pitchFamily="34" charset="0"/>
              <a:buChar char="•"/>
            </a:pPr>
            <a:r>
              <a:rPr lang="en-US" dirty="0"/>
              <a:t>The primary objective of this research is to systematically analyze the security risks associated with AI-generated code and understand their impact on modern software systems. The study aims to identify the most common types of vulnerabilities that arise when developers rely on AI tools for code generation.</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Another important objective is to investigate the underlying causes of these vulnerabilities, including factors related to AI model training, developer behavior, and limitations in contextual understanding. The research also focuses on comparing widely used AI code generation tools to evaluate how their design and functionality influence security outcomes.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Finally, the study seeks to propose practical and effective mitigation strategies that can be applied at different levels—developer, organizational, and technical—to reduce risks and improve the overall security of AI-assisted software development.</a:t>
            </a:r>
          </a:p>
        </p:txBody>
      </p:sp>
    </p:spTree>
    <p:extLst>
      <p:ext uri="{BB962C8B-B14F-4D97-AF65-F5344CB8AC3E}">
        <p14:creationId xmlns:p14="http://schemas.microsoft.com/office/powerpoint/2010/main" val="879083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41162D-182A-4ABA-5385-A0FCF95F19AC}"/>
              </a:ext>
            </a:extLst>
          </p:cNvPr>
          <p:cNvSpPr txBox="1"/>
          <p:nvPr/>
        </p:nvSpPr>
        <p:spPr>
          <a:xfrm>
            <a:off x="167148" y="252870"/>
            <a:ext cx="5919020" cy="553998"/>
          </a:xfrm>
          <a:prstGeom prst="rect">
            <a:avLst/>
          </a:prstGeom>
          <a:noFill/>
        </p:spPr>
        <p:txBody>
          <a:bodyPr wrap="square">
            <a:spAutoFit/>
          </a:bodyPr>
          <a:lstStyle/>
          <a:p>
            <a:r>
              <a:rPr lang="en-US" sz="3000" dirty="0"/>
              <a:t>Methodology</a:t>
            </a:r>
          </a:p>
        </p:txBody>
      </p:sp>
      <p:sp>
        <p:nvSpPr>
          <p:cNvPr id="5" name="TextBox 4">
            <a:extLst>
              <a:ext uri="{FF2B5EF4-FFF2-40B4-BE49-F238E27FC236}">
                <a16:creationId xmlns:a16="http://schemas.microsoft.com/office/drawing/2014/main" id="{8B31F206-1A97-243A-6C23-A7A5B7D8D773}"/>
              </a:ext>
            </a:extLst>
          </p:cNvPr>
          <p:cNvSpPr txBox="1"/>
          <p:nvPr/>
        </p:nvSpPr>
        <p:spPr>
          <a:xfrm>
            <a:off x="231058" y="1225601"/>
            <a:ext cx="8400878" cy="3693319"/>
          </a:xfrm>
          <a:prstGeom prst="rect">
            <a:avLst/>
          </a:prstGeom>
          <a:noFill/>
        </p:spPr>
        <p:txBody>
          <a:bodyPr wrap="square">
            <a:spAutoFit/>
          </a:bodyPr>
          <a:lstStyle/>
          <a:p>
            <a:pPr marL="285750" indent="-285750" algn="just">
              <a:buFont typeface="Arial" panose="020B0604020202020204" pitchFamily="34" charset="0"/>
              <a:buChar char="•"/>
            </a:pPr>
            <a:r>
              <a:rPr lang="en-US" dirty="0"/>
              <a:t>The research is based on a systematic review of existing literature related to AI-generated code and software security. A total of thirteen high-quality research papers were selected from reputable sources such as IEEE, ACM, </a:t>
            </a:r>
            <a:r>
              <a:rPr lang="en-US" dirty="0" err="1"/>
              <a:t>arXiv</a:t>
            </a:r>
            <a:r>
              <a:rPr lang="en-US" dirty="0"/>
              <a:t>, and USENIX.</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These studies were carefully analyzed to extract relevant information about vulnerability types, frequency of occurrence, and security implications. The methodology focused on comparing different AI tools, identifying patterns in vulnerabilities, and evaluating the effectiveness of existing security measures.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This structured approach ensures that the findings are reliable, well-supported, and aligned with current research trends in the field of AI and cybersecurity.</a:t>
            </a:r>
          </a:p>
        </p:txBody>
      </p:sp>
    </p:spTree>
    <p:extLst>
      <p:ext uri="{BB962C8B-B14F-4D97-AF65-F5344CB8AC3E}">
        <p14:creationId xmlns:p14="http://schemas.microsoft.com/office/powerpoint/2010/main" val="3066312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AE91E-D9D9-F762-0FF0-AF045DD82BC4}"/>
              </a:ext>
            </a:extLst>
          </p:cNvPr>
          <p:cNvSpPr>
            <a:spLocks noGrp="1"/>
          </p:cNvSpPr>
          <p:nvPr>
            <p:ph type="title"/>
          </p:nvPr>
        </p:nvSpPr>
        <p:spPr>
          <a:xfrm>
            <a:off x="254950" y="123493"/>
            <a:ext cx="5486040" cy="914040"/>
          </a:xfrm>
        </p:spPr>
        <p:txBody>
          <a:bodyPr/>
          <a:lstStyle/>
          <a:p>
            <a:r>
              <a:rPr lang="en-US" sz="3000" dirty="0"/>
              <a:t>Root Causes</a:t>
            </a:r>
          </a:p>
        </p:txBody>
      </p:sp>
      <p:sp>
        <p:nvSpPr>
          <p:cNvPr id="3" name="Subtitle 2">
            <a:extLst>
              <a:ext uri="{FF2B5EF4-FFF2-40B4-BE49-F238E27FC236}">
                <a16:creationId xmlns:a16="http://schemas.microsoft.com/office/drawing/2014/main" id="{1A5B4B3C-2CE3-B16F-F5E1-68F2DC474429}"/>
              </a:ext>
            </a:extLst>
          </p:cNvPr>
          <p:cNvSpPr>
            <a:spLocks noGrp="1"/>
          </p:cNvSpPr>
          <p:nvPr>
            <p:ph type="subTitle"/>
          </p:nvPr>
        </p:nvSpPr>
        <p:spPr>
          <a:xfrm>
            <a:off x="254950" y="1037533"/>
            <a:ext cx="8194106" cy="4412291"/>
          </a:xfrm>
        </p:spPr>
        <p:txBody>
          <a:bodyPr/>
          <a:lstStyle/>
          <a:p>
            <a:pPr marL="285750" indent="-285750" algn="just">
              <a:buFont typeface="Arial" panose="020B0604020202020204" pitchFamily="34" charset="0"/>
              <a:buChar char="•"/>
            </a:pPr>
            <a:r>
              <a:rPr lang="en-US" sz="1800" dirty="0"/>
              <a:t>The presence of vulnerabilities in AI-generated code can be attributed to multiple interconnected factors. One of the key reasons is the nature of training datasets used by AI models, which often contain insecure, outdated, or unverified code from public repositories. As a result, AI systems may unintentionally learn and reproduce insecure coding patterns.</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dirty="0"/>
              <a:t>Another major factor is that AI models are primarily designed to generate syntactically correct and functional code rather than secure code. They do not fully understand the broader security implications or the complete application context in which the code will be used.</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dirty="0"/>
              <a:t>Additionally, developers often exhibit automation bias, meaning they trust AI-generated suggestions without critically analyzing them. Limited context awareness and lack of explicit security instructions in prompts further contribute to the generation of vulnerable code. These combined factors make AI-generated code prone to systematic security risks.</a:t>
            </a:r>
          </a:p>
        </p:txBody>
      </p:sp>
    </p:spTree>
    <p:extLst>
      <p:ext uri="{BB962C8B-B14F-4D97-AF65-F5344CB8AC3E}">
        <p14:creationId xmlns:p14="http://schemas.microsoft.com/office/powerpoint/2010/main" val="3446774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1889F-AEB3-B8E7-7DF8-EF9B792FC6D1}"/>
              </a:ext>
            </a:extLst>
          </p:cNvPr>
          <p:cNvSpPr>
            <a:spLocks noGrp="1"/>
          </p:cNvSpPr>
          <p:nvPr>
            <p:ph type="title"/>
          </p:nvPr>
        </p:nvSpPr>
        <p:spPr>
          <a:xfrm>
            <a:off x="222585" y="109728"/>
            <a:ext cx="6019702" cy="914040"/>
          </a:xfrm>
        </p:spPr>
        <p:txBody>
          <a:bodyPr/>
          <a:lstStyle/>
          <a:p>
            <a:r>
              <a:rPr lang="en-US" sz="2400" dirty="0"/>
              <a:t>Security Vulnerabilities &amp; Tool Comparison</a:t>
            </a:r>
          </a:p>
        </p:txBody>
      </p:sp>
      <p:sp>
        <p:nvSpPr>
          <p:cNvPr id="3" name="Subtitle 2">
            <a:extLst>
              <a:ext uri="{FF2B5EF4-FFF2-40B4-BE49-F238E27FC236}">
                <a16:creationId xmlns:a16="http://schemas.microsoft.com/office/drawing/2014/main" id="{2E9341A7-9AB5-3BF5-3B35-20FBCDDB088C}"/>
              </a:ext>
            </a:extLst>
          </p:cNvPr>
          <p:cNvSpPr>
            <a:spLocks noGrp="1"/>
          </p:cNvSpPr>
          <p:nvPr>
            <p:ph type="subTitle"/>
          </p:nvPr>
        </p:nvSpPr>
        <p:spPr>
          <a:xfrm>
            <a:off x="222585" y="1719072"/>
            <a:ext cx="8229240" cy="4050792"/>
          </a:xfrm>
        </p:spPr>
        <p:txBody>
          <a:bodyPr/>
          <a:lstStyle/>
          <a:p>
            <a:r>
              <a:rPr lang="en-US" sz="1800" dirty="0"/>
              <a:t>Types of Vulnerabilities</a:t>
            </a:r>
          </a:p>
          <a:p>
            <a:endParaRPr lang="en-US" sz="1800" dirty="0"/>
          </a:p>
          <a:p>
            <a:pPr marL="285750" indent="-285750" algn="just">
              <a:buFont typeface="Arial" panose="020B0604020202020204" pitchFamily="34" charset="0"/>
              <a:buChar char="•"/>
            </a:pPr>
            <a:r>
              <a:rPr lang="en-US" sz="1800" dirty="0"/>
              <a:t>AI-generated code is prone to a variety of security vulnerabilities that can compromise the integrity and safety of software systems. Some of the most common issues include SQL injection and command injection, where user inputs are directly incorporated into queries without proper validation.</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dirty="0"/>
              <a:t>Other vulnerabilities include cross-site scripting (XSS), hard-coded credentials, and weak cryptographic implementations. Additionally, issues such as lack of input validation, buffer overflows, race conditions, and insecure dependencies further increase the risk of exploitation.</a:t>
            </a:r>
          </a:p>
          <a:p>
            <a:endParaRPr lang="en-US" sz="1800" dirty="0"/>
          </a:p>
          <a:p>
            <a:r>
              <a:rPr lang="en-US" sz="1800" dirty="0"/>
              <a:t>Tool Comparison</a:t>
            </a:r>
          </a:p>
          <a:p>
            <a:pPr marL="285750" indent="-285750">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dirty="0"/>
              <a:t>Different AI code generation tools vary in their approach and effectiveness when it comes to security. GitHub Copilot, for example, provides real-time code suggestions but lacks built-in mechanisms for detecting security vulnerabilities.</a:t>
            </a:r>
          </a:p>
          <a:p>
            <a:pPr algn="just"/>
            <a:endParaRPr lang="en-US" sz="1800" dirty="0"/>
          </a:p>
          <a:p>
            <a:pPr marL="285750" indent="-285750" algn="just">
              <a:buFont typeface="Arial" panose="020B0604020202020204" pitchFamily="34" charset="0"/>
              <a:buChar char="•"/>
            </a:pPr>
            <a:r>
              <a:rPr lang="en-US" sz="1800" dirty="0"/>
              <a:t>ChatGPT, on the other hand, can generate more secure code when explicitly instructed through prompts, but its output quality heavily depends on user input. Amazon </a:t>
            </a:r>
            <a:r>
              <a:rPr lang="en-US" sz="1800" dirty="0" err="1"/>
              <a:t>CodeWhisperer</a:t>
            </a:r>
            <a:r>
              <a:rPr lang="en-US" sz="1800" dirty="0"/>
              <a:t> offers comparatively better security features.</a:t>
            </a:r>
          </a:p>
        </p:txBody>
      </p:sp>
    </p:spTree>
    <p:extLst>
      <p:ext uri="{BB962C8B-B14F-4D97-AF65-F5344CB8AC3E}">
        <p14:creationId xmlns:p14="http://schemas.microsoft.com/office/powerpoint/2010/main" val="3123559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28E3-C8EE-6948-EC5D-839894C49A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D144E4-0FF8-6D8B-FE11-10A493E6F6D7}"/>
              </a:ext>
            </a:extLst>
          </p:cNvPr>
          <p:cNvSpPr>
            <a:spLocks noGrp="1"/>
          </p:cNvSpPr>
          <p:nvPr>
            <p:ph type="title"/>
          </p:nvPr>
        </p:nvSpPr>
        <p:spPr>
          <a:xfrm>
            <a:off x="254950" y="123493"/>
            <a:ext cx="5486040" cy="914040"/>
          </a:xfrm>
        </p:spPr>
        <p:txBody>
          <a:bodyPr/>
          <a:lstStyle/>
          <a:p>
            <a:r>
              <a:rPr lang="en-US" sz="3000" dirty="0"/>
              <a:t>Mitigation Strategies</a:t>
            </a:r>
          </a:p>
        </p:txBody>
      </p:sp>
      <p:sp>
        <p:nvSpPr>
          <p:cNvPr id="3" name="Subtitle 2">
            <a:extLst>
              <a:ext uri="{FF2B5EF4-FFF2-40B4-BE49-F238E27FC236}">
                <a16:creationId xmlns:a16="http://schemas.microsoft.com/office/drawing/2014/main" id="{CAFE4532-AF11-A208-EDD6-DF76C9CB682F}"/>
              </a:ext>
            </a:extLst>
          </p:cNvPr>
          <p:cNvSpPr>
            <a:spLocks noGrp="1"/>
          </p:cNvSpPr>
          <p:nvPr>
            <p:ph type="subTitle"/>
          </p:nvPr>
        </p:nvSpPr>
        <p:spPr>
          <a:xfrm>
            <a:off x="254950" y="1037533"/>
            <a:ext cx="8229240" cy="4210101"/>
          </a:xfrm>
        </p:spPr>
        <p:txBody>
          <a:bodyPr/>
          <a:lstStyle/>
          <a:p>
            <a:pPr marL="285750" indent="-285750" algn="just">
              <a:buFont typeface="Arial" panose="020B0604020202020204" pitchFamily="34" charset="0"/>
              <a:buChar char="•"/>
            </a:pPr>
            <a:r>
              <a:rPr lang="en-US" sz="1800" dirty="0"/>
              <a:t>Addressing the security risks associated with AI-generated code requires a multi-layered approach involving developers, organizations, and technical systems. At the developer level, it is essential to use security-aware prompts, validate all user inputs, and avoid practices such as hardcoding sensitive information within the code.</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dirty="0"/>
              <a:t>At the organizational level, companies should enforce strict code review policies, provide security training to developers, and establish clear guidelines for the responsible use of AI tools in the development process. This helps reduce over-reliance on AI and ensures accountability.</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dirty="0"/>
              <a:t>From a technical perspective, integrating tools such as Static Application Security Testing (SAST) and Software Composition Analysis (SCA) can help identify vulnerabilities early in the development lifecycle. By combining these approaches, organizations can significantly reduce the risks associated with AI-generated code and ensure more secure software systems.</a:t>
            </a:r>
          </a:p>
        </p:txBody>
      </p:sp>
    </p:spTree>
    <p:extLst>
      <p:ext uri="{BB962C8B-B14F-4D97-AF65-F5344CB8AC3E}">
        <p14:creationId xmlns:p14="http://schemas.microsoft.com/office/powerpoint/2010/main" val="2137521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B8333-AD96-D9CC-5981-DCCE6A4B5661}"/>
              </a:ext>
            </a:extLst>
          </p:cNvPr>
          <p:cNvSpPr>
            <a:spLocks noGrp="1"/>
          </p:cNvSpPr>
          <p:nvPr>
            <p:ph type="title"/>
          </p:nvPr>
        </p:nvSpPr>
        <p:spPr>
          <a:xfrm>
            <a:off x="192024" y="82296"/>
            <a:ext cx="7140775" cy="914040"/>
          </a:xfrm>
        </p:spPr>
        <p:txBody>
          <a:bodyPr/>
          <a:lstStyle/>
          <a:p>
            <a:r>
              <a:rPr lang="en-US" sz="2800" dirty="0"/>
              <a:t>Key Findings</a:t>
            </a:r>
          </a:p>
        </p:txBody>
      </p:sp>
      <p:sp>
        <p:nvSpPr>
          <p:cNvPr id="3" name="Subtitle 2">
            <a:extLst>
              <a:ext uri="{FF2B5EF4-FFF2-40B4-BE49-F238E27FC236}">
                <a16:creationId xmlns:a16="http://schemas.microsoft.com/office/drawing/2014/main" id="{8604D84D-AAE1-EC51-0D2B-7C8CC82928D2}"/>
              </a:ext>
            </a:extLst>
          </p:cNvPr>
          <p:cNvSpPr>
            <a:spLocks noGrp="1"/>
          </p:cNvSpPr>
          <p:nvPr>
            <p:ph type="subTitle"/>
          </p:nvPr>
        </p:nvSpPr>
        <p:spPr>
          <a:xfrm>
            <a:off x="375691" y="1178477"/>
            <a:ext cx="8072284" cy="2415115"/>
          </a:xfrm>
        </p:spPr>
        <p:txBody>
          <a:bodyPr/>
          <a:lstStyle/>
          <a:p>
            <a:pPr marL="285750" indent="-285750" algn="just">
              <a:buFont typeface="Arial" panose="020B0604020202020204" pitchFamily="34" charset="0"/>
              <a:buChar char="•"/>
            </a:pPr>
            <a:r>
              <a:rPr lang="en-US" sz="1800" dirty="0"/>
              <a:t>The research findings indicate that AI-generated code has a higher likelihood of containing vulnerabilities compared to human-written code. The quality and security of generated code depend significantly on how prompts are structured and how developers interact with AI tools.</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dirty="0"/>
              <a:t>Less experienced developers are more prone to introducing vulnerabilities due to over-reliance on AI suggestions. Additionally, many vulnerabilities are not random but follow identifiable patterns, making them predictable and manageable with the right strategies.</a:t>
            </a:r>
          </a:p>
        </p:txBody>
      </p:sp>
    </p:spTree>
    <p:extLst>
      <p:ext uri="{BB962C8B-B14F-4D97-AF65-F5344CB8AC3E}">
        <p14:creationId xmlns:p14="http://schemas.microsoft.com/office/powerpoint/2010/main" val="3715652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A51A3F-7646-CA9C-FA8D-A75769FBD56A}"/>
              </a:ext>
            </a:extLst>
          </p:cNvPr>
          <p:cNvSpPr txBox="1"/>
          <p:nvPr/>
        </p:nvSpPr>
        <p:spPr>
          <a:xfrm>
            <a:off x="191727" y="1166842"/>
            <a:ext cx="8445910" cy="4524315"/>
          </a:xfrm>
          <a:prstGeom prst="rect">
            <a:avLst/>
          </a:prstGeom>
          <a:noFill/>
        </p:spPr>
        <p:txBody>
          <a:bodyPr wrap="square">
            <a:spAutoFit/>
          </a:bodyPr>
          <a:lstStyle/>
          <a:p>
            <a:pPr marL="285750" indent="-285750" algn="just">
              <a:buFont typeface="Arial" panose="020B0604020202020204" pitchFamily="34" charset="0"/>
              <a:buChar char="•"/>
            </a:pPr>
            <a:r>
              <a:rPr lang="en-US" dirty="0"/>
              <a:t>The field of AI-generated code security is still evolving, and there are several opportunities for future research and development. One important direction is the development of real-time security analysis tools that can evaluate AI-generated code within development environments before it is deployed.</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Improving the quality of training datasets by incorporating secure coding practices and filtering out vulnerable code can also help reduce the occurrence of security issues. Additionally, there is a need to design AI models that are specifically optimized for generating secure code rather than just functional code.</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Another key area is the creation of standardized benchmarks and evaluation frameworks to measure the security performance of different AI code generation tools. Enhancing collaboration between humans and AI systems can further ensure that security is maintained while benefiting from increased productivity.</a:t>
            </a:r>
          </a:p>
        </p:txBody>
      </p:sp>
      <p:sp>
        <p:nvSpPr>
          <p:cNvPr id="5" name="TextBox 4">
            <a:extLst>
              <a:ext uri="{FF2B5EF4-FFF2-40B4-BE49-F238E27FC236}">
                <a16:creationId xmlns:a16="http://schemas.microsoft.com/office/drawing/2014/main" id="{5EF628F7-5934-CDBA-0309-0B4E1F62F53A}"/>
              </a:ext>
            </a:extLst>
          </p:cNvPr>
          <p:cNvSpPr txBox="1"/>
          <p:nvPr/>
        </p:nvSpPr>
        <p:spPr>
          <a:xfrm>
            <a:off x="191727" y="174211"/>
            <a:ext cx="6120581" cy="553998"/>
          </a:xfrm>
          <a:prstGeom prst="rect">
            <a:avLst/>
          </a:prstGeom>
          <a:noFill/>
        </p:spPr>
        <p:txBody>
          <a:bodyPr wrap="square">
            <a:spAutoFit/>
          </a:bodyPr>
          <a:lstStyle/>
          <a:p>
            <a:r>
              <a:rPr lang="en-US" sz="3000" dirty="0"/>
              <a:t>Future Scope</a:t>
            </a:r>
          </a:p>
        </p:txBody>
      </p:sp>
    </p:spTree>
    <p:extLst>
      <p:ext uri="{BB962C8B-B14F-4D97-AF65-F5344CB8AC3E}">
        <p14:creationId xmlns:p14="http://schemas.microsoft.com/office/powerpoint/2010/main" val="1924972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25420-719F-6138-64D6-9F1251844DF4}"/>
              </a:ext>
            </a:extLst>
          </p:cNvPr>
          <p:cNvSpPr>
            <a:spLocks noGrp="1"/>
          </p:cNvSpPr>
          <p:nvPr>
            <p:ph type="title"/>
          </p:nvPr>
        </p:nvSpPr>
        <p:spPr>
          <a:xfrm>
            <a:off x="179733" y="100584"/>
            <a:ext cx="5486040" cy="914040"/>
          </a:xfrm>
        </p:spPr>
        <p:txBody>
          <a:bodyPr/>
          <a:lstStyle/>
          <a:p>
            <a:r>
              <a:rPr lang="en-US" sz="3200" dirty="0"/>
              <a:t>Conclusion</a:t>
            </a:r>
          </a:p>
        </p:txBody>
      </p:sp>
      <p:sp>
        <p:nvSpPr>
          <p:cNvPr id="3" name="Subtitle 2">
            <a:extLst>
              <a:ext uri="{FF2B5EF4-FFF2-40B4-BE49-F238E27FC236}">
                <a16:creationId xmlns:a16="http://schemas.microsoft.com/office/drawing/2014/main" id="{3F2B1E77-CBCE-219B-770D-EDD22A60F0C1}"/>
              </a:ext>
            </a:extLst>
          </p:cNvPr>
          <p:cNvSpPr>
            <a:spLocks noGrp="1"/>
          </p:cNvSpPr>
          <p:nvPr>
            <p:ph type="subTitle"/>
          </p:nvPr>
        </p:nvSpPr>
        <p:spPr>
          <a:xfrm>
            <a:off x="316795" y="914040"/>
            <a:ext cx="8126361" cy="4396887"/>
          </a:xfrm>
        </p:spPr>
        <p:txBody>
          <a:bodyPr/>
          <a:lstStyle/>
          <a:p>
            <a:pPr marL="285750" indent="-285750" algn="just">
              <a:buFont typeface="Arial" panose="020B0604020202020204" pitchFamily="34" charset="0"/>
              <a:buChar char="•"/>
            </a:pPr>
            <a:r>
              <a:rPr lang="en-US" sz="1800" dirty="0"/>
              <a:t>AI-powered code generation tools have significantly improved developer productivity by enabling faster and more efficient coding. However, this research highlights that such tools also introduce serious security risks, as they often generate code without considering secure coding practices.</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dirty="0"/>
              <a:t>The study demonstrates that AI-generated code can contain multiple types of vulnerabilities, many of which arise due to insecure training data, lack of context awareness, and developer over-reliance on AI outputs. These vulnerabilities are not random but follow identifiable patterns, making them predictable and preventable.</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dirty="0"/>
              <a:t>To ensure safe adoption of AI tools, it is essential to combine developer awareness, organizational policies, and technical solutions such as code reviews and security testing tools. A balanced approach is necessary to leverage the benefits of AI while minimizing associated risks.</a:t>
            </a:r>
          </a:p>
        </p:txBody>
      </p:sp>
    </p:spTree>
    <p:extLst>
      <p:ext uri="{BB962C8B-B14F-4D97-AF65-F5344CB8AC3E}">
        <p14:creationId xmlns:p14="http://schemas.microsoft.com/office/powerpoint/2010/main" val="3551251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c27e7713-2c3c-4f76-8ef5-8b9280789fd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A91AE22DD82174E9813A1C70EB23EF7" ma:contentTypeVersion="10" ma:contentTypeDescription="Create a new document." ma:contentTypeScope="" ma:versionID="983a5ad7d37013e60c21b617245af917">
  <xsd:schema xmlns:xsd="http://www.w3.org/2001/XMLSchema" xmlns:xs="http://www.w3.org/2001/XMLSchema" xmlns:p="http://schemas.microsoft.com/office/2006/metadata/properties" xmlns:ns3="c27e7713-2c3c-4f76-8ef5-8b9280789fd9" targetNamespace="http://schemas.microsoft.com/office/2006/metadata/properties" ma:root="true" ma:fieldsID="6dc3233139ad2b727d90e76fa6f04d6b" ns3:_="">
    <xsd:import namespace="c27e7713-2c3c-4f76-8ef5-8b9280789fd9"/>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7e7713-2c3c-4f76-8ef5-8b9280789fd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2.xml><?xml version="1.0" encoding="utf-8"?>
<ds:datastoreItem xmlns:ds="http://schemas.openxmlformats.org/officeDocument/2006/customXml" ds:itemID="{4A62A602-78C1-468C-BB25-57CD481DB741}">
  <ds:schemaRefs>
    <ds:schemaRef ds:uri="http://www.w3.org/XML/1998/namespace"/>
    <ds:schemaRef ds:uri="http://purl.org/dc/terms/"/>
    <ds:schemaRef ds:uri="http://schemas.microsoft.com/office/infopath/2007/PartnerControls"/>
    <ds:schemaRef ds:uri="http://schemas.openxmlformats.org/package/2006/metadata/core-properties"/>
    <ds:schemaRef ds:uri="http://schemas.microsoft.com/office/2006/documentManagement/types"/>
    <ds:schemaRef ds:uri="http://schemas.microsoft.com/office/2006/metadata/properties"/>
    <ds:schemaRef ds:uri="http://purl.org/dc/elements/1.1/"/>
    <ds:schemaRef ds:uri="c27e7713-2c3c-4f76-8ef5-8b9280789fd9"/>
    <ds:schemaRef ds:uri="http://purl.org/dc/dcmitype/"/>
  </ds:schemaRefs>
</ds:datastoreItem>
</file>

<file path=customXml/itemProps3.xml><?xml version="1.0" encoding="utf-8"?>
<ds:datastoreItem xmlns:ds="http://schemas.openxmlformats.org/officeDocument/2006/customXml" ds:itemID="{F57AB25C-78F4-4308-B7B3-955DADA9D7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27e7713-2c3c-4f76-8ef5-8b9280789fd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2210990632 - Synopsis</Template>
  <TotalTime>32</TotalTime>
  <Words>1494</Words>
  <Application>Microsoft Office PowerPoint</Application>
  <PresentationFormat>On-screen Show (4:3)</PresentationFormat>
  <Paragraphs>82</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 Proposed Solution</vt:lpstr>
      <vt:lpstr>Objectives</vt:lpstr>
      <vt:lpstr>PowerPoint Presentation</vt:lpstr>
      <vt:lpstr>Root Causes</vt:lpstr>
      <vt:lpstr>Security Vulnerabilities &amp; Tool Comparison</vt:lpstr>
      <vt:lpstr>Mitigation Strategies</vt:lpstr>
      <vt:lpstr>Key Findings</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Palak Kaushik</dc:creator>
  <cp:lastModifiedBy>Palak Kaushik</cp:lastModifiedBy>
  <cp:revision>3</cp:revision>
  <dcterms:created xsi:type="dcterms:W3CDTF">2025-11-05T06:18:55Z</dcterms:created>
  <dcterms:modified xsi:type="dcterms:W3CDTF">2026-04-30T06:10:00Z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0x0101001A91AE22DD82174E9813A1C70EB23EF7</vt:lpwstr>
  </property>
</Properties>
</file>